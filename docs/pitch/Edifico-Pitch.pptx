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850392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" y="4823460"/>
            <a:ext cx="850392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" y="320040"/>
            <a:ext cx="22860" cy="45034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8823960" y="320040"/>
            <a:ext cx="22860" cy="45034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457200"/>
            <a:ext cx="8229600" cy="10973"/>
          </a:xfrm>
          <a:prstGeom prst="rect">
            <a:avLst/>
          </a:prstGeom>
          <a:solidFill>
            <a:srgbClr val="A8893D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4686300"/>
            <a:ext cx="8229600" cy="10973"/>
          </a:xfrm>
          <a:prstGeom prst="rect">
            <a:avLst/>
          </a:prstGeom>
          <a:solidFill>
            <a:srgbClr val="A8893D"/>
          </a:solidFill>
          <a:ln/>
        </p:spPr>
      </p:sp>
      <p:sp>
        <p:nvSpPr>
          <p:cNvPr id="8" name="Text 6"/>
          <p:cNvSpPr/>
          <p:nvPr/>
        </p:nvSpPr>
        <p:spPr>
          <a:xfrm>
            <a:off x="3931920" y="1097280"/>
            <a:ext cx="1280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13000" dirty="0"/>
          </a:p>
        </p:txBody>
      </p:sp>
      <p:sp>
        <p:nvSpPr>
          <p:cNvPr id="9" name="Shape 7"/>
          <p:cNvSpPr/>
          <p:nvPr/>
        </p:nvSpPr>
        <p:spPr>
          <a:xfrm>
            <a:off x="4370832" y="2743200"/>
            <a:ext cx="64008" cy="6400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0" name="Shape 8"/>
          <p:cNvSpPr/>
          <p:nvPr/>
        </p:nvSpPr>
        <p:spPr>
          <a:xfrm>
            <a:off x="4526280" y="2715768"/>
            <a:ext cx="91440" cy="91440"/>
          </a:xfrm>
          <a:prstGeom prst="ellipse">
            <a:avLst/>
          </a:prstGeom>
          <a:solidFill>
            <a:srgbClr val="E0BB6E"/>
          </a:solidFill>
          <a:ln/>
        </p:spPr>
      </p:sp>
      <p:sp>
        <p:nvSpPr>
          <p:cNvPr id="11" name="Shape 9"/>
          <p:cNvSpPr/>
          <p:nvPr/>
        </p:nvSpPr>
        <p:spPr>
          <a:xfrm>
            <a:off x="4709160" y="2743200"/>
            <a:ext cx="64008" cy="6400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92608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spc="18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EDIFICO</a:t>
            </a:r>
            <a:endParaRPr lang="en-US" sz="5600" dirty="0"/>
          </a:p>
        </p:txBody>
      </p:sp>
      <p:sp>
        <p:nvSpPr>
          <p:cNvPr id="13" name="Shape 11"/>
          <p:cNvSpPr/>
          <p:nvPr/>
        </p:nvSpPr>
        <p:spPr>
          <a:xfrm>
            <a:off x="2926080" y="3703320"/>
            <a:ext cx="3291840" cy="10973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822192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9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PLATFORM,  ALL YOUR SITES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443484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  ·  DIGITAL TWIN  ·  WORKFORCE</a:t>
            </a:r>
            <a:endParaRPr lang="en-US" sz="900" dirty="0"/>
          </a:p>
        </p:txBody>
      </p:sp>
    </p:spTree>
  </p:cSld>
  <p:clrMapOvr>
    <a:masterClrMapping/>
  </p:clrMapOvr>
  <p:transition spd="med" advClick="1" advTm="4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A88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 ·  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is fragmented.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945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36576" cy="21945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65%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68580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 proiecte depasesc bugetul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fara o vizibilitate centralizata cost ↔ executie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21945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46120" y="2194560"/>
            <a:ext cx="36576" cy="21945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47472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 timpul echipei e pierdut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7472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coordonare manuala intre tool-uri disjuncte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035040" y="219456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1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2194560"/>
            <a:ext cx="36576" cy="21945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246888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6263640" y="3291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platforme accesibile pentru IMM-uri AEC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263640" y="374904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majoritatea solutiilor BIM enterprise costa €1000+/luna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/ 20</a:t>
            </a:r>
            <a:endParaRPr lang="en-US" sz="800" dirty="0"/>
          </a:p>
        </p:txBody>
      </p:sp>
    </p:spTree>
  </p:cSld>
  <p:clrMapOvr>
    <a:masterClrMapping/>
  </p:clrMapOvr>
  <p:transition spd="med" advClick="1" advTm="65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 ·  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Built for AEC.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219456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unifica workforce, BIM si Digital Twin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intr-un singur produs accesibil — gandit pentru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IMM-urile din constructii care vor sa lucreze</a:t>
            </a:r>
            <a:endParaRPr lang="en-US" sz="17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7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 enterprise, fara costuri enterprise.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766560" y="1828800"/>
            <a:ext cx="2743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6931152" y="182880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31152" y="207568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Datele raman la tine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766560" y="2468880"/>
            <a:ext cx="2743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6931152" y="246888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standards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931152" y="271576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IFC · BCF · COBie · ISO 19650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3108960"/>
            <a:ext cx="2743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3" name="Text 11"/>
          <p:cNvSpPr/>
          <p:nvPr/>
        </p:nvSpPr>
        <p:spPr>
          <a:xfrm>
            <a:off x="6931152" y="310896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31152" y="33558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module, activabile la nevoie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749040"/>
            <a:ext cx="27432" cy="5029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6931152" y="3749040"/>
            <a:ext cx="20116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 predictabil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931152" y="399592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Fara abonament per user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/ 20</a:t>
            </a:r>
            <a:endParaRPr lang="en-US" sz="800" dirty="0"/>
          </a:p>
        </p:txBody>
      </p:sp>
    </p:spTree>
  </p:cSld>
  <p:clrMapOvr>
    <a:masterClrMapping/>
  </p:clrMapOvr>
  <p:transition spd="med" advClick="1" advTm="65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A88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 ·  PLATFORM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 module, 1 platforma.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03120"/>
            <a:ext cx="199339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03120"/>
            <a:ext cx="1993392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212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Workforce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8620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Pontaje · Angajati · Proiecte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560320" y="2103120"/>
            <a:ext cx="199339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2103120"/>
            <a:ext cx="1993392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2697480" y="2212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697480" y="25146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 Core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697480" y="28620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Santiere · Spatii · Elemente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2103120"/>
            <a:ext cx="199339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03120"/>
            <a:ext cx="1993392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212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5146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 Viewer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800600" y="28620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xeokit · APS · Federation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2103120"/>
            <a:ext cx="199339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66560" y="2103120"/>
            <a:ext cx="1993392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21284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03720" y="2514600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CDE Workflow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2862072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19650 · Versioning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57200" y="3456432"/>
            <a:ext cx="199339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456432"/>
            <a:ext cx="1993392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Text 25"/>
          <p:cNvSpPr/>
          <p:nvPr/>
        </p:nvSpPr>
        <p:spPr>
          <a:xfrm>
            <a:off x="594360" y="3566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94360" y="38679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Rules + Clash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594360" y="421538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checking automat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560320" y="3456432"/>
            <a:ext cx="199339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560320" y="3456432"/>
            <a:ext cx="1993392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2" name="Text 30"/>
          <p:cNvSpPr/>
          <p:nvPr/>
        </p:nvSpPr>
        <p:spPr>
          <a:xfrm>
            <a:off x="2697480" y="3566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697480" y="38679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4D + 5D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2697480" y="421538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Schedule · Cost · Gantt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3456432"/>
            <a:ext cx="199339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663440" y="3456432"/>
            <a:ext cx="1993392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7" name="Text 35"/>
          <p:cNvSpPr/>
          <p:nvPr/>
        </p:nvSpPr>
        <p:spPr>
          <a:xfrm>
            <a:off x="4800600" y="3566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8679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800600" y="421538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Sensori · Alerte · IoT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66560" y="3456432"/>
            <a:ext cx="1993392" cy="118872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66560" y="3456432"/>
            <a:ext cx="1993392" cy="2743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356616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03720" y="3867912"/>
            <a:ext cx="1719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903720" y="4215384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· COBie · BCF · API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6" name="Text 44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/ 20</a:t>
            </a:r>
            <a:endParaRPr lang="en-US" sz="800" dirty="0"/>
          </a:p>
        </p:txBody>
      </p:sp>
    </p:spTree>
  </p:cSld>
  <p:clrMapOvr>
    <a:masterClrMapping/>
  </p:clrMapOvr>
  <p:transition spd="med" advClick="1" advTm="8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A88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 ·  MODUL 01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Workforce Management.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83080"/>
            <a:ext cx="292608" cy="29260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7373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Pontaje granulare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5740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Ore normale + suplimentare 50% + 100%, validare automata weekend + sarbatori legale RO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92608" cy="29260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25146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Angajati cu CV complet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83464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CNP, functie, documente cu expirare, poza, qualificari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292608" cy="29260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291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Proiecte cu echipa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4400" y="36118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Asociere angajat-proiect cu tarif negociat, budget tracking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292608" cy="292608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114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14400" y="4069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Rapoarte Excel + PDF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4400" y="43891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tipuri Excel + 3 PDF (Foaie colectiva A3, Stat plata, SSM)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1737360"/>
            <a:ext cx="3108960" cy="2743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22" name="Shape 20"/>
          <p:cNvSpPr/>
          <p:nvPr/>
        </p:nvSpPr>
        <p:spPr>
          <a:xfrm>
            <a:off x="5669280" y="1737360"/>
            <a:ext cx="310896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3" name="Text 21"/>
          <p:cNvSpPr/>
          <p:nvPr/>
        </p:nvSpPr>
        <p:spPr>
          <a:xfrm>
            <a:off x="5852160" y="18745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6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CIFRE TIPICE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852160" y="22860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200+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5852160" y="2743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angajati per tenant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852160" y="30632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50K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5852160" y="3520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pontaje / an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852160" y="3840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5852160" y="4297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tipuri rapoarte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1" name="Text 29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  ·  MODUL 02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BIM Core hierarchy.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03120"/>
            <a:ext cx="1234440" cy="914400"/>
          </a:xfrm>
          <a:prstGeom prst="rect">
            <a:avLst/>
          </a:prstGeom>
          <a:solidFill>
            <a:srgbClr val="1A2A4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194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SANTIER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69164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61"/>
                </a:solidFill>
              </a:rPr>
              <a:t>›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874520" y="2103120"/>
            <a:ext cx="1234440" cy="914400"/>
          </a:xfrm>
          <a:prstGeom prst="rect">
            <a:avLst/>
          </a:prstGeom>
          <a:solidFill>
            <a:srgbClr val="1A2A4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74520" y="2194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L2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874520" y="2468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CLADIRE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10896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61"/>
                </a:solidFill>
              </a:rPr>
              <a:t>›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3291840" y="2103120"/>
            <a:ext cx="1234440" cy="914400"/>
          </a:xfrm>
          <a:prstGeom prst="rect">
            <a:avLst/>
          </a:prstGeom>
          <a:solidFill>
            <a:srgbClr val="1A2A4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2194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91840" y="2468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NIVEL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2628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61"/>
                </a:solidFill>
              </a:rPr>
              <a:t>›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4709160" y="2103120"/>
            <a:ext cx="1234440" cy="914400"/>
          </a:xfrm>
          <a:prstGeom prst="rect">
            <a:avLst/>
          </a:prstGeom>
          <a:solidFill>
            <a:srgbClr val="1A2A4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09160" y="2194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2468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ZONA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94360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61"/>
                </a:solidFill>
              </a:rPr>
              <a:t>›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6126480" y="2103120"/>
            <a:ext cx="1234440" cy="914400"/>
          </a:xfrm>
          <a:prstGeom prst="rect">
            <a:avLst/>
          </a:prstGeom>
          <a:solidFill>
            <a:srgbClr val="1A2A4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194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L5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126480" y="2468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SPATIU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60920" y="233172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9A961"/>
                </a:solidFill>
              </a:rPr>
              <a:t>›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543800" y="2103120"/>
            <a:ext cx="1234440" cy="914400"/>
          </a:xfrm>
          <a:prstGeom prst="rect">
            <a:avLst/>
          </a:prstGeom>
          <a:solidFill>
            <a:srgbClr val="1A2A4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43800" y="219456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L6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543800" y="2468880"/>
            <a:ext cx="1234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ELEMENT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657600"/>
            <a:ext cx="2743200" cy="1005840"/>
          </a:xfrm>
          <a:prstGeom prst="rect">
            <a:avLst/>
          </a:prstGeom>
          <a:solidFill>
            <a:srgbClr val="050A14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" y="3657600"/>
            <a:ext cx="45720" cy="10058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IFC Import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0080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ifcopenshell native, GlobalId tracking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310128" y="3657600"/>
            <a:ext cx="2743200" cy="1005840"/>
          </a:xfrm>
          <a:prstGeom prst="rect">
            <a:avLst/>
          </a:prstGeom>
          <a:solidFill>
            <a:srgbClr val="050A14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310128" y="3657600"/>
            <a:ext cx="45720" cy="10058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4" name="Text 32"/>
          <p:cNvSpPr/>
          <p:nvPr/>
        </p:nvSpPr>
        <p:spPr>
          <a:xfrm>
            <a:off x="3493008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Federation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493008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ExternalMapping: IFC + Revit + APS coexista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163056" y="3657600"/>
            <a:ext cx="2743200" cy="1005840"/>
          </a:xfrm>
          <a:prstGeom prst="rect">
            <a:avLst/>
          </a:prstGeom>
          <a:solidFill>
            <a:srgbClr val="050A14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63056" y="3657600"/>
            <a:ext cx="45720" cy="100584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8" name="Text 36"/>
          <p:cNvSpPr/>
          <p:nvPr/>
        </p:nvSpPr>
        <p:spPr>
          <a:xfrm>
            <a:off x="6345936" y="37947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quality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45936" y="41605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`flask validate-bim` cu 6 reports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1" name="Text 39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A88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  ·  MODUL 03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3D Viewer + Federation.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143000" y="194767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Autodesk APS Viewer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43000" y="22860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tier · necesita APS_CLIENT_ID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1143000" y="281635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xeokit-sdk (open)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3154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 · cea mai rapida pe modele &gt;50MB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594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12" name="Text 10"/>
          <p:cNvSpPr/>
          <p:nvPr/>
        </p:nvSpPr>
        <p:spPr>
          <a:xfrm>
            <a:off x="1143000" y="36850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web-ifc-viewer (fallback)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43000" y="40233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Legacy · pentru compatibilitate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0" y="1737360"/>
            <a:ext cx="3291840" cy="2743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15" name="Shape 13"/>
          <p:cNvSpPr/>
          <p:nvPr/>
        </p:nvSpPr>
        <p:spPr>
          <a:xfrm>
            <a:off x="5486400" y="1737360"/>
            <a:ext cx="45720" cy="274320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187452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FEDERATION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2194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Multi-disciplina overlap.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669280" y="2834640"/>
            <a:ext cx="914400" cy="320040"/>
          </a:xfrm>
          <a:prstGeom prst="rect">
            <a:avLst/>
          </a:prstGeom>
          <a:solidFill>
            <a:srgbClr val="1A2A4A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675120" y="2834640"/>
            <a:ext cx="914400" cy="320040"/>
          </a:xfrm>
          <a:prstGeom prst="rect">
            <a:avLst/>
          </a:prstGeom>
          <a:solidFill>
            <a:srgbClr val="1A2A4A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67512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680960" y="2834640"/>
            <a:ext cx="914400" cy="320040"/>
          </a:xfrm>
          <a:prstGeom prst="rect">
            <a:avLst/>
          </a:prstGeom>
          <a:solidFill>
            <a:srgbClr val="1A2A4A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0" y="283464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MEP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0" y="3246120"/>
            <a:ext cx="914400" cy="320040"/>
          </a:xfrm>
          <a:prstGeom prst="rect">
            <a:avLst/>
          </a:prstGeom>
          <a:solidFill>
            <a:srgbClr val="1A2A4A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675120" y="3246120"/>
            <a:ext cx="914400" cy="320040"/>
          </a:xfrm>
          <a:prstGeom prst="rect">
            <a:avLst/>
          </a:prstGeom>
          <a:solidFill>
            <a:srgbClr val="1A2A4A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HVAC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680960" y="3246120"/>
            <a:ext cx="914400" cy="320040"/>
          </a:xfrm>
          <a:prstGeom prst="rect">
            <a:avLst/>
          </a:prstGeom>
          <a:solidFill>
            <a:srgbClr val="1A2A4A"/>
          </a:solidFill>
          <a:ln w="6350">
            <a:solidFill>
              <a:srgbClr val="C9A9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0" y="3246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0" y="3749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Viewer publicat la nivel santier.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Filtrabil per disciplina prin pillule.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  ·  MODUL 04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CDE Workflow · ISO 19650.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2103120"/>
            <a:ext cx="1481328" cy="548640"/>
          </a:xfrm>
          <a:prstGeom prst="rect">
            <a:avLst/>
          </a:prstGeom>
          <a:solidFill>
            <a:srgbClr val="FFA726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103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938528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1"/>
                </a:solidFill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03120" y="2103120"/>
            <a:ext cx="1481328" cy="548640"/>
          </a:xfrm>
          <a:prstGeom prst="rect">
            <a:avLst/>
          </a:prstGeom>
          <a:solidFill>
            <a:srgbClr val="42A5F5"/>
          </a:solidFill>
          <a:ln/>
        </p:spPr>
      </p:sp>
      <p:sp>
        <p:nvSpPr>
          <p:cNvPr id="9" name="Text 7"/>
          <p:cNvSpPr/>
          <p:nvPr/>
        </p:nvSpPr>
        <p:spPr>
          <a:xfrm>
            <a:off x="2103120" y="2103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584448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1"/>
                </a:solidFill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749040" y="2103120"/>
            <a:ext cx="1481328" cy="548640"/>
          </a:xfrm>
          <a:prstGeom prst="rect">
            <a:avLst/>
          </a:prstGeom>
          <a:solidFill>
            <a:srgbClr val="66BB6A"/>
          </a:solidFill>
          <a:ln/>
        </p:spPr>
      </p:sp>
      <p:sp>
        <p:nvSpPr>
          <p:cNvPr id="12" name="Text 10"/>
          <p:cNvSpPr/>
          <p:nvPr/>
        </p:nvSpPr>
        <p:spPr>
          <a:xfrm>
            <a:off x="3749040" y="2103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PUBLISHED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30368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1"/>
                </a:solidFill>
              </a:rPr>
              <a:t>→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394960" y="2103120"/>
            <a:ext cx="1481328" cy="548640"/>
          </a:xfrm>
          <a:prstGeom prst="rect">
            <a:avLst/>
          </a:prstGeom>
          <a:solidFill>
            <a:srgbClr val="EF5350"/>
          </a:solidFill>
          <a:ln/>
        </p:spPr>
      </p:sp>
      <p:sp>
        <p:nvSpPr>
          <p:cNvPr id="15" name="Text 13"/>
          <p:cNvSpPr/>
          <p:nvPr/>
        </p:nvSpPr>
        <p:spPr>
          <a:xfrm>
            <a:off x="5394960" y="2103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REJECTED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876288" y="2103120"/>
            <a:ext cx="164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9A961"/>
                </a:solidFill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040880" y="2103120"/>
            <a:ext cx="1481328" cy="548640"/>
          </a:xfrm>
          <a:prstGeom prst="rect">
            <a:avLst/>
          </a:prstGeom>
          <a:solidFill>
            <a:srgbClr val="9E9E9E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103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ARCHIVED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971800"/>
            <a:ext cx="27432" cy="731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Versioning explicit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4360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Fiecare model are N versiuni cu istoricul complet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2971800"/>
            <a:ext cx="27432" cy="731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3" name="Text 21"/>
          <p:cNvSpPr/>
          <p:nvPr/>
        </p:nvSpPr>
        <p:spPr>
          <a:xfrm>
            <a:off x="4892040" y="29718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Permisiuni granulare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92040" y="3291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Operator: WIP↔SHARED. Manager: publish/reject/archive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" y="3840480"/>
            <a:ext cx="27432" cy="731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6" name="Text 24"/>
          <p:cNvSpPr/>
          <p:nvPr/>
        </p:nvSpPr>
        <p:spPr>
          <a:xfrm>
            <a:off x="59436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trail complet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9436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Toate tranzitiile logate cu user, timestamp, comentariu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3840480"/>
            <a:ext cx="27432" cy="7315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9" name="Text 27"/>
          <p:cNvSpPr/>
          <p:nvPr/>
        </p:nvSpPr>
        <p:spPr>
          <a:xfrm>
            <a:off x="4892040" y="38404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Aprobari oficiale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92040" y="41605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Doar versiunile PUBLISHED apar in federation + execution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A88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  ·  MODUL 05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Rule Engine + Clash Detection.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4114800" cy="2743200"/>
          </a:xfrm>
          <a:prstGeom prst="rect">
            <a:avLst/>
          </a:prstGeom>
          <a:solidFill>
            <a:srgbClr val="0B1426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7830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EXEMPLU REGULA · JSON DSL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40080" y="230428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"tip": "required_properties",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50545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"selector": {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70662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"tip_element": "wall"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90779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},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10896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"constraint": {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31012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"required_properties":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511296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["fire_rating", "thickness"]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712464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40080" y="3913632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17830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5486400" y="18288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tipuri reguli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486400" y="21488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required_properties · naming_convention · forbidden_in_zone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937760" y="2697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486400" y="2743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Clash auto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0" y="3063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AABB geometric + Logic (GUID duplicat, supraincarcare)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937760" y="3611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5486400" y="3657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Issue promotion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86400" y="39776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Violation → IssueBIM oficial cu un click manager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Text 25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  ·  MODUL 06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4D Schedule + 5D Cost.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4206240" cy="2651760"/>
          </a:xfrm>
          <a:prstGeom prst="rect">
            <a:avLst/>
          </a:prstGeom>
          <a:solidFill>
            <a:srgbClr val="1A2A4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828800"/>
            <a:ext cx="54864" cy="2651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4D · SCHEDULE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sequencing.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731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 faze tipice (excavatie → finisaje)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602736"/>
            <a:ext cx="731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Gantt chart cu progres 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895344"/>
            <a:ext cx="731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785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Detectie automata intarzieri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187952"/>
            <a:ext cx="731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API: `visible-at` pentru viewer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37760" y="1828800"/>
            <a:ext cx="4206240" cy="2651760"/>
          </a:xfrm>
          <a:prstGeom prst="rect">
            <a:avLst/>
          </a:prstGeom>
          <a:solidFill>
            <a:srgbClr val="1A2A4A"/>
          </a:solidFill>
          <a:ln w="9525">
            <a:solidFill>
              <a:srgbClr val="C9A96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937760" y="1828800"/>
            <a:ext cx="54864" cy="26517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5120640" y="1965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5D · COST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120640" y="228600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 vs. real,</a:t>
            </a:r>
            <a:endParaRPr lang="en-US" sz="2600" dirty="0"/>
          </a:p>
          <a:p>
            <a:pPr indent="0" marL="0">
              <a:buNone/>
            </a:pPr>
            <a:r>
              <a:rPr lang="en-US" sz="26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 timp real.</a:t>
            </a:r>
            <a:endParaRPr lang="en-US" sz="2600" dirty="0"/>
          </a:p>
        </p:txBody>
      </p:sp>
      <p:sp>
        <p:nvSpPr>
          <p:cNvPr id="21" name="Shape 19"/>
          <p:cNvSpPr/>
          <p:nvPr/>
        </p:nvSpPr>
        <p:spPr>
          <a:xfrm>
            <a:off x="5120640" y="3310128"/>
            <a:ext cx="731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2" name="Text 20"/>
          <p:cNvSpPr/>
          <p:nvPr/>
        </p:nvSpPr>
        <p:spPr>
          <a:xfrm>
            <a:off x="5303520" y="3200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categorii (material · manopera · ...)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120640" y="3602736"/>
            <a:ext cx="731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/>
          <p:nvPr/>
        </p:nvSpPr>
        <p:spPr>
          <a:xfrm>
            <a:off x="530352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Tip: planificat sau real (facturat)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120640" y="3895344"/>
            <a:ext cx="731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6" name="Text 24"/>
          <p:cNvSpPr/>
          <p:nvPr/>
        </p:nvSpPr>
        <p:spPr>
          <a:xfrm>
            <a:off x="5303520" y="378561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Agregare per disciplina · cladire · tip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120640" y="4187952"/>
            <a:ext cx="73152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8" name="Text 26"/>
          <p:cNvSpPr/>
          <p:nvPr/>
        </p:nvSpPr>
        <p:spPr>
          <a:xfrm>
            <a:off x="5303520" y="40782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Delta plan vs real cu %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A88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  ·  MODUL 07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Twin / IoT.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371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</a:t>
            </a:r>
            <a:endParaRPr lang="en-US" sz="130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tipuri senzori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34747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temperatura · umiditate · CO₂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energie · vibratie · ocupare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presiune · debit · custom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0" y="1691640"/>
            <a:ext cx="3017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0" y="1691640"/>
            <a:ext cx="36576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0" name="Text 8"/>
          <p:cNvSpPr/>
          <p:nvPr/>
        </p:nvSpPr>
        <p:spPr>
          <a:xfrm>
            <a:off x="3383280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Token-auth ingest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83280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POST /bim/api/sensors/ingest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Header X-Sensor-Token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27648" y="1691640"/>
            <a:ext cx="3017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27648" y="1691640"/>
            <a:ext cx="36576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4" name="Text 12"/>
          <p:cNvSpPr/>
          <p:nvPr/>
        </p:nvSpPr>
        <p:spPr>
          <a:xfrm>
            <a:off x="6510528" y="18745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Time-series indexed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10528" y="224028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(senzor_id, ts) — scaleaza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milioane de citiri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3081528"/>
            <a:ext cx="3017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3081528"/>
            <a:ext cx="36576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8" name="Text 16"/>
          <p:cNvSpPr/>
          <p:nvPr/>
        </p:nvSpPr>
        <p:spPr>
          <a:xfrm>
            <a:off x="3383280" y="3264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Auto-alerts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83280" y="36301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Threshold violation →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severitate calculata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27648" y="3081528"/>
            <a:ext cx="301752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27648" y="3081528"/>
            <a:ext cx="36576" cy="12801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2" name="Text 20"/>
          <p:cNvSpPr/>
          <p:nvPr/>
        </p:nvSpPr>
        <p:spPr>
          <a:xfrm>
            <a:off x="6510528" y="326440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Chart.js dashboards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510528" y="3630168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/ 1h / 1d aggregare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 linii threshold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  ·  MODUL 08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Real-time + Kanban.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Colaborare multi-user fara WebSockets.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2377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Server-Sent Events + reconnect automat — compatibil cu orice hosting low-cost (PythonAnywhere, etc.)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2011680" cy="1463040"/>
          </a:xfrm>
          <a:prstGeom prst="rect">
            <a:avLst/>
          </a:prstGeom>
          <a:solidFill>
            <a:srgbClr val="1A2A4A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017520"/>
            <a:ext cx="201168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Kanban drag-drop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coloane status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workflow native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87752" y="3017520"/>
            <a:ext cx="2011680" cy="1463040"/>
          </a:xfrm>
          <a:prstGeom prst="rect">
            <a:avLst/>
          </a:prstGeom>
          <a:solidFill>
            <a:srgbClr val="1A2A4A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87752" y="3017520"/>
            <a:ext cx="201168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3" name="Text 11"/>
          <p:cNvSpPr/>
          <p:nvPr/>
        </p:nvSpPr>
        <p:spPr>
          <a:xfrm>
            <a:off x="2770632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Comments live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70632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Sub-threads + SSE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broadcast la peers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18304" y="3017520"/>
            <a:ext cx="2011680" cy="1463040"/>
          </a:xfrm>
          <a:prstGeom prst="rect">
            <a:avLst/>
          </a:prstGeom>
          <a:solidFill>
            <a:srgbClr val="1A2A4A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3017520"/>
            <a:ext cx="201168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4901184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01184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Heartbeat 30s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"online acum"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848856" y="3017520"/>
            <a:ext cx="2011680" cy="1463040"/>
          </a:xfrm>
          <a:prstGeom prst="rect">
            <a:avLst/>
          </a:prstGeom>
          <a:solidFill>
            <a:srgbClr val="1A2A4A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48856" y="3017520"/>
            <a:ext cx="2011680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7031736" y="3246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stream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031736" y="361188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/api/events/stream</a:t>
            </a:r>
            <a:endParaRPr lang="en-US" sz="11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 reconnect auto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A88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 ·  MODUL 09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enterprise.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783080"/>
            <a:ext cx="19933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783080"/>
            <a:ext cx="1993392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9659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2860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RBAC fin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80" y="2788920"/>
            <a:ext cx="1627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roluri × 5 scopes: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global / proiect /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santier / cladire /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disciplina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9464" y="1783080"/>
            <a:ext cx="19933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9464" y="1783080"/>
            <a:ext cx="1993392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2" name="Text 10"/>
          <p:cNvSpPr/>
          <p:nvPr/>
        </p:nvSpPr>
        <p:spPr>
          <a:xfrm>
            <a:off x="2752344" y="19659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52344" y="22860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API tokens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752344" y="2788920"/>
            <a:ext cx="1627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Bearer auth · scopes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JSON · expiration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optional. Suport pentru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integrari BI.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81728" y="1783080"/>
            <a:ext cx="19933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81728" y="1783080"/>
            <a:ext cx="1993392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4864608" y="19659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64608" y="22860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COBie 2.4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864608" y="2788920"/>
            <a:ext cx="1627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Excel cu 6 sheet-uri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pentru handover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management.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793992" y="1783080"/>
            <a:ext cx="1993392" cy="2651760"/>
          </a:xfrm>
          <a:prstGeom prst="rect">
            <a:avLst/>
          </a:prstGeom>
          <a:solidFill>
            <a:srgbClr val="FFFFFF"/>
          </a:solidFill>
          <a:ln w="9525">
            <a:solidFill>
              <a:srgbClr val="E8E1D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93992" y="1783080"/>
            <a:ext cx="1993392" cy="36576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2" name="Text 20"/>
          <p:cNvSpPr/>
          <p:nvPr/>
        </p:nvSpPr>
        <p:spPr>
          <a:xfrm>
            <a:off x="6976872" y="1965960"/>
            <a:ext cx="1627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976872" y="2286000"/>
            <a:ext cx="162763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BCF 2.1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976872" y="2788920"/>
            <a:ext cx="1627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Round-trip complet: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export zip + import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UPSERT pe topic GUID.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  ·  STANDARDS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standards. By design.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920240"/>
            <a:ext cx="1188720" cy="118872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2103120"/>
            <a:ext cx="822960" cy="822960"/>
          </a:xfrm>
          <a:prstGeom prst="ellipse">
            <a:avLst/>
          </a:prstGeom>
          <a:solidFill>
            <a:srgbClr val="0B14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 19650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Common Data Environment workflow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063240" y="1920240"/>
            <a:ext cx="1188720" cy="118872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1" name="Shape 9"/>
          <p:cNvSpPr/>
          <p:nvPr/>
        </p:nvSpPr>
        <p:spPr>
          <a:xfrm>
            <a:off x="3246120" y="2103120"/>
            <a:ext cx="822960" cy="822960"/>
          </a:xfrm>
          <a:prstGeom prst="ellipse">
            <a:avLst/>
          </a:prstGeom>
          <a:solidFill>
            <a:srgbClr val="0B1426"/>
          </a:solidFill>
          <a:ln/>
        </p:spPr>
      </p:sp>
      <p:sp>
        <p:nvSpPr>
          <p:cNvPr id="12" name="Text 10"/>
          <p:cNvSpPr/>
          <p:nvPr/>
        </p:nvSpPr>
        <p:spPr>
          <a:xfrm>
            <a:off x="260604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IFC 4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0604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74320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parser ifcopenshell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12080" y="1920240"/>
            <a:ext cx="1188720" cy="118872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6" name="Shape 14"/>
          <p:cNvSpPr/>
          <p:nvPr/>
        </p:nvSpPr>
        <p:spPr>
          <a:xfrm>
            <a:off x="5394960" y="2103120"/>
            <a:ext cx="822960" cy="822960"/>
          </a:xfrm>
          <a:prstGeom prst="ellipse">
            <a:avLst/>
          </a:prstGeom>
          <a:solidFill>
            <a:srgbClr val="0B1426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BCF 2.1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5488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BCF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89204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Round-trip import + export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60920" y="1920240"/>
            <a:ext cx="1188720" cy="118872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1" name="Shape 19"/>
          <p:cNvSpPr/>
          <p:nvPr/>
        </p:nvSpPr>
        <p:spPr>
          <a:xfrm>
            <a:off x="7543800" y="2103120"/>
            <a:ext cx="822960" cy="822960"/>
          </a:xfrm>
          <a:prstGeom prst="ellipse">
            <a:avLst/>
          </a:prstGeom>
          <a:solidFill>
            <a:srgbClr val="0B1426"/>
          </a:solidFill>
          <a:ln/>
        </p:spPr>
      </p:sp>
      <p:sp>
        <p:nvSpPr>
          <p:cNvPr id="22" name="Text 20"/>
          <p:cNvSpPr/>
          <p:nvPr/>
        </p:nvSpPr>
        <p:spPr>
          <a:xfrm>
            <a:off x="6903720" y="22860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2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COBie 2.4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03720" y="3383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COBie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040880" y="37490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management handover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/ 20</a:t>
            </a:r>
            <a:endParaRPr lang="en-US" sz="800" dirty="0"/>
          </a:p>
        </p:txBody>
      </p:sp>
    </p:spTree>
  </p:cSld>
  <p:clrMapOvr>
    <a:masterClrMapping/>
  </p:clrMapOvr>
  <p:transition spd="med" advClick="1" advTm="65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A88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 ·  TECH STACK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Modern. Maintainable.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691640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 3.11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 3.x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SQLAlchemy 2.x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Alembic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Flask-Login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Flask-WTF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73552" y="169164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73552" y="1691640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1" name="Text 9"/>
          <p:cNvSpPr/>
          <p:nvPr/>
        </p:nvSpPr>
        <p:spPr>
          <a:xfrm>
            <a:off x="3456432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456432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SQLite (dev)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MySQL (prod)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 migrations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tenant-aware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9904" y="1691640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9904" y="1691640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5" name="Text 13"/>
          <p:cNvSpPr/>
          <p:nvPr/>
        </p:nvSpPr>
        <p:spPr>
          <a:xfrm>
            <a:off x="6272784" y="182880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272784" y="21488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Jinja2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 + Cinzel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Chart.js 4.4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xeokit-sdk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 Awesome 6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36392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136392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2735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 / IO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40080" y="35935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ifcopenshell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openpyxl (COBie)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BCF 2.1 XML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OpenAPI 3.0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73552" y="3136392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73552" y="3136392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3" name="Text 21"/>
          <p:cNvSpPr/>
          <p:nvPr/>
        </p:nvSpPr>
        <p:spPr>
          <a:xfrm>
            <a:off x="3456432" y="32735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 / PWA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56432" y="35935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Let's Encrypt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PWA install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Worker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089904" y="3136392"/>
            <a:ext cx="26974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89904" y="3136392"/>
            <a:ext cx="36576" cy="13258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7" name="Text 25"/>
          <p:cNvSpPr/>
          <p:nvPr/>
        </p:nvSpPr>
        <p:spPr>
          <a:xfrm>
            <a:off x="6272784" y="3273552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QUALITY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6272784" y="3593592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401 tests pytest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Playwright E2E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 Actions CI  ·  </a:t>
            </a:r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  ·  SECURITY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by default.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14300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 Let's Encrypt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Auto-renew 90 zile · Force HTTPS · TLS 1.3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75488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440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log complet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4068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Cine, ce, cand · diff old/new values · context request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11430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RBAC fin pe scope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Roluri pe disciplina · santier · cladire · proiect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54880" y="2788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4406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Multi-tenant isolation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40680" y="3154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Row-level scoping · tenant_id pe toate tabelele BIM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114300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Password hashing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Werkzeug + bcrypt-style salt · rate-limit login 5/15min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5440680" y="37947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CSRF + Security headers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4068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Flask-WTF · X-Frame-Options · CSP-ready · token IoT exempt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A88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  ·  MOBILE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Install ca app nativa.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91640"/>
            <a:ext cx="1645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4000" dirty="0"/>
          </a:p>
        </p:txBody>
      </p:sp>
      <p:sp>
        <p:nvSpPr>
          <p:cNvPr id="6" name="Text 4"/>
          <p:cNvSpPr/>
          <p:nvPr/>
        </p:nvSpPr>
        <p:spPr>
          <a:xfrm>
            <a:off x="457200" y="31546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Store fees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se instaleaza ca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Progressive Web App direct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din browser — iOS Safari +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 Chrome.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0" y="1737360"/>
            <a:ext cx="411480" cy="4114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7373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206240" y="1737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icon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0624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Logo Edifico gold pe navy in home screen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0" y="2450592"/>
            <a:ext cx="411480" cy="4114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0" y="24505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206240" y="245059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Standalone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206240" y="2770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Ruleaza fara bara browser, ca app nativa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0" y="3163824"/>
            <a:ext cx="411480" cy="4114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0" y="31638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206240" y="316382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Offline mode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206240" y="348386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Service Worker cache + offline page premium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0" y="3877056"/>
            <a:ext cx="411480" cy="411480"/>
          </a:xfrm>
          <a:prstGeom prst="ellipse">
            <a:avLst/>
          </a:prstGeom>
          <a:solidFill>
            <a:srgbClr val="C9A961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877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206240" y="387705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Auto-update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06240" y="41970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Versiune noua → detectata + aplicata instant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/ 20</a:t>
            </a:r>
            <a:endParaRPr lang="en-US" sz="800" dirty="0"/>
          </a:p>
        </p:txBody>
      </p:sp>
    </p:spTree>
  </p:cSld>
  <p:clrMapOvr>
    <a:masterClrMapping/>
  </p:clrMapOvr>
  <p:transition spd="med" advClick="1" advTm="65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  ·  BY THE NUMBERS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carefully.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828800"/>
            <a:ext cx="2743200" cy="1325880"/>
          </a:xfrm>
          <a:prstGeom prst="rect">
            <a:avLst/>
          </a:prstGeom>
          <a:solidFill>
            <a:srgbClr val="1A2A4A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module integrate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workforce → governance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743200" cy="1325880"/>
          </a:xfrm>
          <a:prstGeom prst="rect">
            <a:avLst/>
          </a:prstGeom>
          <a:solidFill>
            <a:srgbClr val="1A2A4A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0440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352044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DB migrations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Alembic incremental safe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217920" y="1828800"/>
            <a:ext cx="2743200" cy="1325880"/>
          </a:xfrm>
          <a:prstGeom prst="rect">
            <a:avLst/>
          </a:prstGeom>
          <a:solidFill>
            <a:srgbClr val="1A2A4A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19659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401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00800" y="269748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tests verzi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0" y="29260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unit + integration + E2E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57200" y="3291840"/>
            <a:ext cx="2743200" cy="1325880"/>
          </a:xfrm>
          <a:prstGeom prst="rect">
            <a:avLst/>
          </a:prstGeom>
          <a:solidFill>
            <a:srgbClr val="1A2A4A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16+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64008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servicii cross-cutting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0080" y="4389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audit · rbac · iot · realtime ...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337560" y="3291840"/>
            <a:ext cx="2743200" cy="1325880"/>
          </a:xfrm>
          <a:prstGeom prst="rect">
            <a:avLst/>
          </a:prstGeom>
          <a:solidFill>
            <a:srgbClr val="1A2A4A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352044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vendor lock-in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520440" y="4389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stack 100% open-source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217920" y="3291840"/>
            <a:ext cx="2743200" cy="1325880"/>
          </a:xfrm>
          <a:prstGeom prst="rect">
            <a:avLst/>
          </a:prstGeom>
          <a:solidFill>
            <a:srgbClr val="1A2A4A"/>
          </a:solidFill>
          <a:ln w="6350">
            <a:solidFill>
              <a:srgbClr val="A889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342900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200" dirty="0"/>
          </a:p>
        </p:txBody>
      </p:sp>
      <p:sp>
        <p:nvSpPr>
          <p:cNvPr id="27" name="Text 25"/>
          <p:cNvSpPr/>
          <p:nvPr/>
        </p:nvSpPr>
        <p:spPr>
          <a:xfrm>
            <a:off x="6400800" y="41605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5F1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minute ca sa pornesti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0" y="43891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self-hosted, MySQL sau SQLite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0" name="Text 28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/ 20</a:t>
            </a:r>
            <a:endParaRPr lang="en-US" sz="800" dirty="0"/>
          </a:p>
        </p:txBody>
      </p:sp>
    </p:spTree>
  </p:cSld>
  <p:clrMapOvr>
    <a:masterClrMapping/>
  </p:clrMapOvr>
  <p:transition spd="med" advClick="1" advTm="7000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029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700" kern="0" dirty="0">
                <a:solidFill>
                  <a:srgbClr val="A889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 ·  POSITIONING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795528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spc="400" kern="0" dirty="0">
                <a:solidFill>
                  <a:srgbClr val="0B14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Edifico?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581912"/>
            <a:ext cx="9144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91640"/>
            <a:ext cx="2103120" cy="411480"/>
          </a:xfrm>
          <a:prstGeom prst="rect">
            <a:avLst/>
          </a:prstGeom>
          <a:solidFill>
            <a:srgbClr val="0B1426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916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1691640"/>
            <a:ext cx="1828800" cy="411480"/>
          </a:xfrm>
          <a:prstGeom prst="rect">
            <a:avLst/>
          </a:prstGeom>
          <a:solidFill>
            <a:srgbClr val="0B1426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0" y="16916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691640"/>
            <a:ext cx="2377440" cy="411480"/>
          </a:xfrm>
          <a:prstGeom prst="rect">
            <a:avLst/>
          </a:prstGeom>
          <a:solidFill>
            <a:srgbClr val="0B1426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Autodesk Construction Cloud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766560" y="1691640"/>
            <a:ext cx="2377440" cy="411480"/>
          </a:xfrm>
          <a:prstGeom prst="rect">
            <a:avLst/>
          </a:prstGeom>
          <a:solidFill>
            <a:srgbClr val="0B1426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949440" y="16916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Solibri + BIM Collab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210312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1031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Workforce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560320" y="2103120"/>
            <a:ext cx="182880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60320" y="2103120"/>
            <a:ext cx="45720" cy="4114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0" y="21031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Native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89120" y="2103120"/>
            <a:ext cx="237744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2103120"/>
            <a:ext cx="237744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210312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514600"/>
            <a:ext cx="2103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2514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BIM Viewer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560320" y="251460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514600"/>
            <a:ext cx="45720" cy="4114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0" y="251460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Open + APS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0" y="2514600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APS only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66560" y="2514600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49440" y="251460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2926080"/>
            <a:ext cx="210312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0080" y="292608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Twin / IoT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0" y="2926080"/>
            <a:ext cx="182880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560320" y="2926080"/>
            <a:ext cx="45720" cy="4114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5" name="Text 33"/>
          <p:cNvSpPr/>
          <p:nvPr/>
        </p:nvSpPr>
        <p:spPr>
          <a:xfrm>
            <a:off x="2743200" y="292608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Integrat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389120" y="2926080"/>
            <a:ext cx="237744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766560" y="2926080"/>
            <a:ext cx="237744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292608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57200" y="3337560"/>
            <a:ext cx="210312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333756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560320" y="3337560"/>
            <a:ext cx="182880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2560320" y="3337560"/>
            <a:ext cx="45720" cy="4114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4" name="Text 42"/>
          <p:cNvSpPr/>
          <p:nvPr/>
        </p:nvSpPr>
        <p:spPr>
          <a:xfrm>
            <a:off x="2743200" y="333756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 Da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389120" y="3337560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766560" y="3337560"/>
            <a:ext cx="237744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49440" y="33375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—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3749040"/>
            <a:ext cx="210312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40080" y="3749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Pret ~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560320" y="3749040"/>
            <a:ext cx="182880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560320" y="3749040"/>
            <a:ext cx="45720" cy="41148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53" name="Text 51"/>
          <p:cNvSpPr/>
          <p:nvPr/>
        </p:nvSpPr>
        <p:spPr>
          <a:xfrm>
            <a:off x="2743200" y="3749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4389120" y="3749040"/>
            <a:ext cx="237744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€100+ / user / luna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6766560" y="3749040"/>
            <a:ext cx="2377440" cy="411480"/>
          </a:xfrm>
          <a:prstGeom prst="rect">
            <a:avLst/>
          </a:prstGeom>
          <a:solidFill>
            <a:srgbClr val="E8E1D0"/>
          </a:solidFill>
          <a:ln w="6350">
            <a:solidFill>
              <a:srgbClr val="E8E1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949440" y="37490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B14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€500+ / luna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nu inlocuieste enterprise tools high-end. Le face accesibile pentru cei care nu si-le permit.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60" name="Text 58"/>
          <p:cNvSpPr/>
          <p:nvPr/>
        </p:nvSpPr>
        <p:spPr>
          <a:xfrm>
            <a:off x="365760" y="4773168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4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EDIFICO  ·  One platform, all your sites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315200" y="4773168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spc="2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 / 20</a:t>
            </a:r>
            <a:endParaRPr lang="en-US" sz="800" dirty="0"/>
          </a:p>
        </p:txBody>
      </p:sp>
    </p:spTree>
  </p:cSld>
  <p:clrMapOvr>
    <a:masterClrMapping/>
  </p:clrMapOvr>
  <p:transition spd="med" advClick="1" advTm="8000">
    <p:wipe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2400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270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3000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3300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0" y="457200"/>
            <a:ext cx="22860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0" b="1" i="1" dirty="0">
                <a:solidFill>
                  <a:srgbClr val="1A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360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8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PLATFORM ·  ALL YOUR SITES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9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Hai sa</a:t>
            </a:r>
            <a:endParaRPr lang="en-US" sz="92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9200" dirty="0">
                <a:solidFill>
                  <a:srgbClr val="F5F1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incepi.</a:t>
            </a:r>
            <a:endParaRPr lang="en-US" sz="92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1828800" cy="22860"/>
          </a:xfrm>
          <a:prstGeom prst="rect">
            <a:avLst/>
          </a:prstGeom>
          <a:solidFill>
            <a:srgbClr val="C9A961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84048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spc="100" kern="0" dirty="0">
                <a:solidFill>
                  <a:srgbClr val="C9A96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www.edifico.space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8B8B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Self-hosted · Open standards · 8 module integrate</a:t>
            </a:r>
            <a:endParaRPr lang="en-US" sz="1100" dirty="0"/>
          </a:p>
        </p:txBody>
      </p:sp>
    </p:spTree>
  </p:cSld>
  <p:clrMapOvr>
    <a:masterClrMapping/>
  </p:clrMapOvr>
  <p:transition spd="med" advClick="1" advTm="50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30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600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900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1200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1500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1800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2100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Edifico — One platform, all your sites</dc:title>
  <dc:subject>Premium BIM + Digital Twin platform pitch</dc:subject>
  <dc:creator>Edifico</dc:creator>
  <cp:lastModifiedBy>Edifico</cp:lastModifiedBy>
  <cp:revision>1</cp:revision>
  <dcterms:created xsi:type="dcterms:W3CDTF">2026-05-11T18:51:12Z</dcterms:created>
  <dcterms:modified xsi:type="dcterms:W3CDTF">2026-05-11T18:51:12Z</dcterms:modified>
</cp:coreProperties>
</file>